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600" b="1" i="0">
                <a:solidFill>
                  <a:srgbClr val="0E9F8E"/>
                </a:solidFill>
                <a:latin typeface="맑은 고딕"/>
              </a:rPr>
              <a:t>DAILY HOUSE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매일 아침 도착하는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부동산 데일리 뉴스 페이지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600" b="0" i="0">
                <a:solidFill>
                  <a:srgbClr val="C9D3DF"/>
                </a:solidFill>
                <a:latin typeface="맑은 고딕"/>
              </a:rPr>
              <a:t>자동 수집 · AI 요약 · 매일 06:00 자동 발행  — 예상 화면 및 구현 방안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9FADBD"/>
                </a:solidFill>
                <a:latin typeface="맑은 고딕"/>
              </a:rPr>
              <a:t>기획안 v0.1  ·  2026.10.27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4983480"/>
            <a:ext cx="30175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4983480"/>
            <a:ext cx="3017520" cy="32004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5440680"/>
            <a:ext cx="457200" cy="274320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5486400"/>
            <a:ext cx="2103120" cy="73152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5605272"/>
            <a:ext cx="1463040" cy="5486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0" y="5806440"/>
            <a:ext cx="457200" cy="274320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0" y="5852160"/>
            <a:ext cx="2103120" cy="73152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0" y="5971032"/>
            <a:ext cx="1463040" cy="5486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6172200"/>
            <a:ext cx="457200" cy="274320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0" y="6217920"/>
            <a:ext cx="2103120" cy="73152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6336792"/>
            <a:ext cx="1463040" cy="5486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1" i="0">
                <a:solidFill>
                  <a:srgbClr val="1B2A41"/>
                </a:solidFill>
                <a:latin typeface="맑은 고딕"/>
              </a:rPr>
              <a:t>결론: 가능합니다 — 하루 1회 자동으로 '만들어지는' 뉴스 페이지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6B7580"/>
                </a:solidFill>
                <a:latin typeface="맑은 고딕"/>
              </a:rPr>
              <a:t>사람이 매일 글을 쓰는 게 아니라, 스케줄러가 뉴스를 모아 요약하고 페이지를 다시 빌드하는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r"/>
            <a:r>
              <a:rPr sz="900" b="0" i="0">
                <a:solidFill>
                  <a:srgbClr val="6B7580"/>
                </a:solidFill>
                <a:latin typeface="맑은 고딕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900" b="0" i="0">
                <a:solidFill>
                  <a:srgbClr val="6B7580"/>
                </a:solidFill>
                <a:latin typeface="맑은 고딕"/>
              </a:rPr>
              <a:t>Daily House · 부동산 데일리 뉴스 페이지 기획안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4747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474720" cy="109728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310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800" b="1" i="0">
                <a:solidFill>
                  <a:srgbClr val="0E9F8E"/>
                </a:solidFill>
                <a:latin typeface="맑은 고딕"/>
              </a:rPr>
              <a:t>① 수집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310896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222B36"/>
                </a:solidFill>
                <a:latin typeface="맑은 고딕"/>
              </a:rPr>
              <a:t>네이버 뉴스 검색 API, 언론사 RSS,</a:t>
            </a:r>
          </a:p>
          <a:p>
            <a:pPr algn="l"/>
            <a:r>
              <a:rPr sz="1200" b="0" i="0">
                <a:solidFill>
                  <a:srgbClr val="222B36"/>
                </a:solidFill>
                <a:latin typeface="맑은 고딕"/>
              </a:rPr>
              <a:t>국토부·한국부동산원 보도자료를</a:t>
            </a:r>
          </a:p>
          <a:p>
            <a:pPr algn="l"/>
            <a:r>
              <a:rPr sz="1200" b="0" i="0">
                <a:solidFill>
                  <a:srgbClr val="222B36"/>
                </a:solidFill>
                <a:latin typeface="맑은 고딕"/>
              </a:rPr>
              <a:t>'부동산/아파트/청약/금리' 키워드로 수집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2743200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1600" b="0" i="0">
                <a:solidFill>
                  <a:srgbClr val="6B7580"/>
                </a:solidFill>
                <a:latin typeface="맑은 고딕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463040"/>
            <a:ext cx="34747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463040"/>
            <a:ext cx="3474720" cy="109728"/>
          </a:xfrm>
          <a:prstGeom prst="rect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1691640"/>
            <a:ext cx="310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800" b="1" i="0">
                <a:solidFill>
                  <a:srgbClr val="F27D26"/>
                </a:solidFill>
                <a:latin typeface="맑은 고딕"/>
              </a:rPr>
              <a:t>② 정제·요약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59" y="2240280"/>
            <a:ext cx="310896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222B36"/>
                </a:solidFill>
                <a:latin typeface="맑은 고딕"/>
              </a:rPr>
              <a:t>중복 기사 제거 → 카테고리 자동 분류 →</a:t>
            </a:r>
          </a:p>
          <a:p>
            <a:pPr algn="l"/>
            <a:r>
              <a:rPr sz="1200" b="0" i="0">
                <a:solidFill>
                  <a:srgbClr val="222B36"/>
                </a:solidFill>
                <a:latin typeface="맑은 고딕"/>
              </a:rPr>
              <a:t>LLM(GPT/Claude)으로 3줄 요약 +</a:t>
            </a:r>
          </a:p>
          <a:p>
            <a:pPr algn="l"/>
            <a:r>
              <a:rPr sz="1200" b="0" i="0">
                <a:solidFill>
                  <a:srgbClr val="222B36"/>
                </a:solidFill>
                <a:latin typeface="맑은 고딕"/>
              </a:rPr>
              <a:t>'왜 중요한가' 한 줄 생성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2743200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1600" b="0" i="0">
                <a:solidFill>
                  <a:srgbClr val="6B7580"/>
                </a:solidFill>
                <a:latin typeface="맑은 고딕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463040"/>
            <a:ext cx="34747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1463040"/>
            <a:ext cx="3474720" cy="109728"/>
          </a:xfrm>
          <a:prstGeom prst="rect">
            <a:avLst/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599" y="1691640"/>
            <a:ext cx="3108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800" b="1" i="0">
                <a:solidFill>
                  <a:srgbClr val="2F6FE4"/>
                </a:solidFill>
                <a:latin typeface="맑은 고딕"/>
              </a:rPr>
              <a:t>③ 발행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599" y="2240280"/>
            <a:ext cx="310896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222B36"/>
                </a:solidFill>
                <a:latin typeface="맑은 고딕"/>
              </a:rPr>
              <a:t>정적 사이트(Next.js/Astro)로 빌드 후</a:t>
            </a:r>
          </a:p>
          <a:p>
            <a:pPr algn="l"/>
            <a:r>
              <a:rPr sz="1200" b="0" i="0">
                <a:solidFill>
                  <a:srgbClr val="222B36"/>
                </a:solidFill>
                <a:latin typeface="맑은 고딕"/>
              </a:rPr>
              <a:t>Vercel·GitHub Pages에 배포.</a:t>
            </a:r>
          </a:p>
          <a:p>
            <a:pPr algn="l"/>
            <a:r>
              <a:rPr sz="1200" b="0" i="0">
                <a:solidFill>
                  <a:srgbClr val="222B36"/>
                </a:solidFill>
                <a:latin typeface="맑은 고딕"/>
              </a:rPr>
              <a:t>원하면 이메일/카카오톡 알림까지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846320"/>
            <a:ext cx="27432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300" b="1" i="0">
                <a:solidFill>
                  <a:srgbClr val="1B2A41"/>
                </a:solidFill>
                <a:latin typeface="맑은 고딕"/>
              </a:rPr>
              <a:t>핵심 포인트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166360"/>
            <a:ext cx="1069848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b="1" sz="1100">
                <a:solidFill>
                  <a:srgbClr val="222B36"/>
                </a:solidFill>
                <a:latin typeface="맑은 고딕"/>
              </a:rPr>
              <a:t>• 비용</a:t>
            </a:r>
            <a:r>
              <a:rPr sz="1100">
                <a:solidFill>
                  <a:srgbClr val="6B7580"/>
                </a:solidFill>
                <a:latin typeface="맑은 고딕"/>
              </a:rPr>
              <a:t>  GitHub Actions 크론 + Vercel 무료 플랜 + LLM 요약 비용(기사 30건 기준 하루 약 50~100원)으로 거의 무료 운영 가능</a:t>
            </a:r>
          </a:p>
          <a:p>
            <a:pPr algn="l">
              <a:spcAft>
                <a:spcPts val="300"/>
              </a:spcAft>
            </a:pPr>
            <a:r>
              <a:rPr b="1" sz="1100">
                <a:solidFill>
                  <a:srgbClr val="222B36"/>
                </a:solidFill>
                <a:latin typeface="맑은 고딕"/>
              </a:rPr>
              <a:t>• 저작권</a:t>
            </a:r>
            <a:r>
              <a:rPr sz="1100">
                <a:solidFill>
                  <a:srgbClr val="6B7580"/>
                </a:solidFill>
                <a:latin typeface="맑은 고딕"/>
              </a:rPr>
              <a:t>  본문 전문 게재는 피하고 '제목 + 요약 + 출처 링크' 형태로 구성 (언론사 저작권 이슈 회피)</a:t>
            </a:r>
          </a:p>
          <a:p>
            <a:pPr algn="l">
              <a:spcAft>
                <a:spcPts val="300"/>
              </a:spcAft>
            </a:pPr>
            <a:r>
              <a:rPr b="1" sz="1100">
                <a:solidFill>
                  <a:srgbClr val="222B36"/>
                </a:solidFill>
                <a:latin typeface="맑은 고딕"/>
              </a:rPr>
              <a:t>• 운영</a:t>
            </a:r>
            <a:r>
              <a:rPr sz="1100">
                <a:solidFill>
                  <a:srgbClr val="6B7580"/>
                </a:solidFill>
                <a:latin typeface="맑은 고딕"/>
              </a:rPr>
              <a:t>  한 번 세팅하면 손 댈 일이 거의 없음. 키워드/카테고리만 설정 파일에서 조정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1" i="0">
                <a:solidFill>
                  <a:srgbClr val="1B2A41"/>
                </a:solidFill>
                <a:latin typeface="맑은 고딕"/>
              </a:rPr>
              <a:t>예상 화면 ① 메인 페이지 (데스크톱)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6B7580"/>
                </a:solidFill>
                <a:latin typeface="맑은 고딕"/>
              </a:rPr>
              <a:t>오늘 날짜 기준 핵심 기사 3개 + 카테고리별 기사 목록 + 우측 시장 지표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r"/>
            <a:r>
              <a:rPr sz="900" b="0" i="0">
                <a:solidFill>
                  <a:srgbClr val="6B7580"/>
                </a:solidFill>
                <a:latin typeface="맑은 고딕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900" b="0" i="0">
                <a:solidFill>
                  <a:srgbClr val="6B7580"/>
                </a:solidFill>
                <a:latin typeface="맑은 고딕"/>
              </a:rPr>
              <a:t>Daily House · 부동산 데일리 뉴스 페이지 기획안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064240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1064240" cy="292608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325880"/>
            <a:ext cx="109728" cy="109728"/>
          </a:xfrm>
          <a:prstGeom prst="ellipse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1325880"/>
            <a:ext cx="109728" cy="109728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2" y="1325880"/>
            <a:ext cx="109728" cy="109728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80160" y="1271016"/>
            <a:ext cx="3657600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0" i="0">
                <a:solidFill>
                  <a:srgbClr val="6B7580"/>
                </a:solidFill>
                <a:latin typeface="맑은 고딕"/>
              </a:rPr>
              <a:t>https://dailyhouse.kr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527048"/>
            <a:ext cx="11064240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1600200"/>
            <a:ext cx="2743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🏠 Daily House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618488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00" b="0" i="0">
                <a:solidFill>
                  <a:srgbClr val="C9D3DF"/>
                </a:solidFill>
                <a:latin typeface="맑은 고딕"/>
              </a:rPr>
              <a:t>2026년 10월 27일 (화)  ·  오전 6:00 발행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19" y="1618488"/>
            <a:ext cx="14630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지난 뉴스 보기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1618488"/>
            <a:ext cx="1371600" cy="274320"/>
          </a:xfrm>
          <a:prstGeom prst="roundRect">
            <a:avLst>
              <a:gd name="adj" fmla="val 30000"/>
            </a:avLst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✉ 메일로 받기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984248"/>
            <a:ext cx="11064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2048255"/>
            <a:ext cx="868680" cy="2468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0E9F8E"/>
                </a:solidFill>
                <a:latin typeface="맑은 고딕"/>
              </a:rPr>
              <a:t>전체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2313432"/>
            <a:ext cx="685800" cy="36576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45919" y="2048255"/>
            <a:ext cx="868680" cy="2468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 i="0">
                <a:solidFill>
                  <a:srgbClr val="6B7580"/>
                </a:solidFill>
                <a:latin typeface="맑은 고딕"/>
              </a:rPr>
              <a:t>매매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2048255"/>
            <a:ext cx="868680" cy="2468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 i="0">
                <a:solidFill>
                  <a:srgbClr val="6B7580"/>
                </a:solidFill>
                <a:latin typeface="맑은 고딕"/>
              </a:rPr>
              <a:t>전·월세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048255"/>
            <a:ext cx="868680" cy="2468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 i="0">
                <a:solidFill>
                  <a:srgbClr val="6B7580"/>
                </a:solidFill>
                <a:latin typeface="맑은 고딕"/>
              </a:rPr>
              <a:t>정책·규제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2048255"/>
            <a:ext cx="868680" cy="2468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 i="0">
                <a:solidFill>
                  <a:srgbClr val="6B7580"/>
                </a:solidFill>
                <a:latin typeface="맑은 고딕"/>
              </a:rPr>
              <a:t>분양·청약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2048255"/>
            <a:ext cx="868680" cy="2468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 i="0">
                <a:solidFill>
                  <a:srgbClr val="6B7580"/>
                </a:solidFill>
                <a:latin typeface="맑은 고딕"/>
              </a:rPr>
              <a:t>금리·대출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2048255"/>
            <a:ext cx="868680" cy="2468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 i="0">
                <a:solidFill>
                  <a:srgbClr val="6B7580"/>
                </a:solidFill>
                <a:latin typeface="맑은 고딕"/>
              </a:rPr>
              <a:t>지역별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2057400"/>
            <a:ext cx="2148840" cy="237744"/>
          </a:xfrm>
          <a:prstGeom prst="roundRect">
            <a:avLst>
              <a:gd name="adj" fmla="val 30000"/>
            </a:avLst>
          </a:prstGeom>
          <a:solidFill>
            <a:srgbClr val="F4F6F8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0" i="0">
                <a:solidFill>
                  <a:srgbClr val="6B7580"/>
                </a:solidFill>
                <a:latin typeface="맑은 고딕"/>
              </a:rPr>
              <a:t>🔍 기사 검색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2487168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1" i="0">
                <a:solidFill>
                  <a:srgbClr val="1B2A41"/>
                </a:solidFill>
                <a:latin typeface="맑은 고딕"/>
              </a:rPr>
              <a:t>오늘의 헤드라인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03120" y="2523744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AI 3줄 요약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2807208"/>
            <a:ext cx="3657600" cy="16002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7240" y="2807208"/>
            <a:ext cx="3657600" cy="640080"/>
          </a:xfrm>
          <a:prstGeom prst="roundRect">
            <a:avLst>
              <a:gd name="adj" fmla="val 4000"/>
            </a:avLst>
          </a:prstGeom>
          <a:solidFill>
            <a:srgbClr val="B8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74519" y="3008376"/>
            <a:ext cx="14630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800" b="0" i="0">
                <a:solidFill>
                  <a:srgbClr val="FFFFFF"/>
                </a:solidFill>
                <a:latin typeface="맑은 고딕"/>
              </a:rPr>
              <a:t>대표 이미지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3520439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정책·규제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3721608"/>
            <a:ext cx="35661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00" b="1" i="0">
                <a:solidFill>
                  <a:srgbClr val="222B36"/>
                </a:solidFill>
                <a:latin typeface="맑은 고딕"/>
              </a:rPr>
              <a:t>서울 전역 토지거래허가구역 재지정… 시장 영향은?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4041648"/>
            <a:ext cx="35661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750" b="0" i="0">
                <a:solidFill>
                  <a:srgbClr val="6B7580"/>
                </a:solidFill>
                <a:latin typeface="맑은 고딕"/>
              </a:rPr>
              <a:t>• 강남3구·용산 중심 6개월 연장</a:t>
            </a:r>
          </a:p>
          <a:p>
            <a:pPr algn="l"/>
            <a:r>
              <a:rPr sz="750" b="0" i="0">
                <a:solidFill>
                  <a:srgbClr val="6B7580"/>
                </a:solidFill>
                <a:latin typeface="맑은 고딕"/>
              </a:rPr>
              <a:t>• 거래량 20% 감소 전망 · 전세가 상승 우려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17720" y="2807208"/>
            <a:ext cx="3749039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9159" y="2898648"/>
            <a:ext cx="822960" cy="566928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23559" y="2898648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금리·대출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3099815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850" b="1" i="0">
                <a:solidFill>
                  <a:srgbClr val="222B36"/>
                </a:solidFill>
                <a:latin typeface="맑은 고딕"/>
              </a:rPr>
              <a:t>한은 기준금리 동결… 주담대 금리 소폭 하락 전망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77840" y="3337560"/>
            <a:ext cx="27432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700" b="0" i="0">
                <a:solidFill>
                  <a:srgbClr val="6B7580"/>
                </a:solidFill>
                <a:latin typeface="맑은 고딕"/>
              </a:rPr>
              <a:t>한국경제 · 1시간 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17720" y="3630168"/>
            <a:ext cx="3749039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09159" y="3721607"/>
            <a:ext cx="822960" cy="566928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623559" y="3721607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분양·청약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77840" y="3922776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850" b="1" i="0">
                <a:solidFill>
                  <a:srgbClr val="222B36"/>
                </a:solidFill>
                <a:latin typeface="맑은 고딕"/>
              </a:rPr>
              <a:t>이번주 청약 일정: 과천·동탄 등 5개 단지 접수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4160520"/>
            <a:ext cx="27432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700" b="0" i="0">
                <a:solidFill>
                  <a:srgbClr val="6B7580"/>
                </a:solidFill>
                <a:latin typeface="맑은 고딕"/>
              </a:rPr>
              <a:t>매일경제 · 3시간 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4590288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1" i="0">
                <a:solidFill>
                  <a:srgbClr val="1B2A41"/>
                </a:solidFill>
                <a:latin typeface="맑은 고딕"/>
              </a:rPr>
              <a:t>오늘의 주요 기사 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48840" y="4617720"/>
            <a:ext cx="18288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800" b="0" i="0">
                <a:solidFill>
                  <a:srgbClr val="6B7580"/>
                </a:solidFill>
                <a:latin typeface="맑은 고딕"/>
              </a:rPr>
              <a:t>총 27건 · 중복 제거됨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03720" y="4617720"/>
            <a:ext cx="146304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r"/>
            <a:r>
              <a:rPr sz="800" b="0" i="0">
                <a:solidFill>
                  <a:srgbClr val="6B7580"/>
                </a:solidFill>
                <a:latin typeface="맑은 고딕"/>
              </a:rPr>
              <a:t>최신순 ▾   중요도순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276088"/>
            <a:ext cx="7589520" cy="914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77240" y="4983479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매매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08760" y="4928615"/>
            <a:ext cx="512064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850" b="1" i="0">
                <a:solidFill>
                  <a:srgbClr val="222B36"/>
                </a:solidFill>
                <a:latin typeface="맑은 고딕"/>
              </a:rPr>
              <a:t>10월 넷째주 아파트 매매가격 0.08% 상승… 상승폭 확대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111495"/>
            <a:ext cx="36576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700" b="0" i="0">
                <a:solidFill>
                  <a:srgbClr val="6B7580"/>
                </a:solidFill>
                <a:latin typeface="맑은 고딕"/>
              </a:rPr>
              <a:t>한국부동산원 · 2시간 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52360" y="4983479"/>
            <a:ext cx="9144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r"/>
            <a:r>
              <a:rPr sz="750" b="1" i="0">
                <a:solidFill>
                  <a:srgbClr val="E04F4F"/>
                </a:solidFill>
                <a:latin typeface="맑은 고딕"/>
              </a:rPr>
              <a:t>▲ 0.08%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5660136"/>
            <a:ext cx="7589520" cy="914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77240" y="5367527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전·월세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08760" y="5312663"/>
            <a:ext cx="512064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850" b="1" i="0">
                <a:solidFill>
                  <a:srgbClr val="222B36"/>
                </a:solidFill>
                <a:latin typeface="맑은 고딕"/>
              </a:rPr>
              <a:t>서울 전세 매물 두 달 새 15% 감소, 전세가율 상승세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08760" y="5495543"/>
            <a:ext cx="36576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700" b="0" i="0">
                <a:solidFill>
                  <a:srgbClr val="6B7580"/>
                </a:solidFill>
                <a:latin typeface="맑은 고딕"/>
              </a:rPr>
              <a:t>연합뉴스 · 4시간 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52360" y="5367527"/>
            <a:ext cx="9144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r"/>
            <a:r>
              <a:rPr sz="750" b="1" i="0">
                <a:solidFill>
                  <a:srgbClr val="E04F4F"/>
                </a:solidFill>
                <a:latin typeface="맑은 고딕"/>
              </a:rPr>
              <a:t>▲ 전세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" y="6044183"/>
            <a:ext cx="7589520" cy="914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77240" y="5751575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정책·규제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08760" y="5696711"/>
            <a:ext cx="512064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850" b="1" i="0">
                <a:solidFill>
                  <a:srgbClr val="222B36"/>
                </a:solidFill>
                <a:latin typeface="맑은 고딕"/>
              </a:rPr>
              <a:t>국토부, 비아파트 공급 활성화 대책 다음주 발표 예정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08760" y="5879591"/>
            <a:ext cx="36576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700" b="0" i="0">
                <a:solidFill>
                  <a:srgbClr val="6B7580"/>
                </a:solidFill>
                <a:latin typeface="맑은 고딕"/>
              </a:rPr>
              <a:t>국토교통부 · 5시간 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52360" y="5751575"/>
            <a:ext cx="9144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r"/>
            <a:r>
              <a:rPr sz="750" b="1" i="0">
                <a:solidFill>
                  <a:srgbClr val="6B7580"/>
                </a:solidFill>
                <a:latin typeface="맑은 고딕"/>
              </a:rPr>
              <a:t>예정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595360" y="2487168"/>
            <a:ext cx="278892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686800" y="2560320"/>
            <a:ext cx="2286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00" b="1" i="0">
                <a:solidFill>
                  <a:srgbClr val="1B2A41"/>
                </a:solidFill>
                <a:latin typeface="맑은 고딕"/>
              </a:rPr>
              <a:t>📊 오늘의 시장 지표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86800" y="2871215"/>
            <a:ext cx="14630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0" i="0">
                <a:solidFill>
                  <a:srgbClr val="6B7580"/>
                </a:solidFill>
                <a:latin typeface="맑은 고딕"/>
              </a:rPr>
              <a:t>기준금리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058400" y="2871215"/>
            <a:ext cx="7315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00" b="1" i="0">
                <a:solidFill>
                  <a:srgbClr val="222B36"/>
                </a:solidFill>
                <a:latin typeface="맑은 고딕"/>
              </a:rPr>
              <a:t>2.50%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744200" y="2871215"/>
            <a:ext cx="5943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750" b="1" i="0">
                <a:solidFill>
                  <a:srgbClr val="6B7580"/>
                </a:solidFill>
                <a:latin typeface="맑은 고딕"/>
              </a:rPr>
              <a:t>유지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86800" y="3209544"/>
            <a:ext cx="14630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0" i="0">
                <a:solidFill>
                  <a:srgbClr val="6B7580"/>
                </a:solidFill>
                <a:latin typeface="맑은 고딕"/>
              </a:rPr>
              <a:t>주담대 평균금리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058400" y="3209544"/>
            <a:ext cx="7315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00" b="1" i="0">
                <a:solidFill>
                  <a:srgbClr val="222B36"/>
                </a:solidFill>
                <a:latin typeface="맑은 고딕"/>
              </a:rPr>
              <a:t>3.92%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744200" y="3209544"/>
            <a:ext cx="5943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750" b="1" i="0">
                <a:solidFill>
                  <a:srgbClr val="2F6FE4"/>
                </a:solidFill>
                <a:latin typeface="맑은 고딕"/>
              </a:rPr>
              <a:t>▼ 0.03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86800" y="3547872"/>
            <a:ext cx="14630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0" i="0">
                <a:solidFill>
                  <a:srgbClr val="6B7580"/>
                </a:solidFill>
                <a:latin typeface="맑은 고딕"/>
              </a:rPr>
              <a:t>서울 아파트 매매지수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58400" y="3547872"/>
            <a:ext cx="7315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00" b="1" i="0">
                <a:solidFill>
                  <a:srgbClr val="222B36"/>
                </a:solidFill>
                <a:latin typeface="맑은 고딕"/>
              </a:rPr>
              <a:t>101.8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744200" y="3547872"/>
            <a:ext cx="5943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750" b="1" i="0">
                <a:solidFill>
                  <a:srgbClr val="E04F4F"/>
                </a:solidFill>
                <a:latin typeface="맑은 고딕"/>
              </a:rPr>
              <a:t>▲ 0.08%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86800" y="3886200"/>
            <a:ext cx="14630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0" i="0">
                <a:solidFill>
                  <a:srgbClr val="6B7580"/>
                </a:solidFill>
                <a:latin typeface="맑은 고딕"/>
              </a:rPr>
              <a:t>전국 전세가율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58400" y="3886200"/>
            <a:ext cx="7315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900" b="1" i="0">
                <a:solidFill>
                  <a:srgbClr val="222B36"/>
                </a:solidFill>
                <a:latin typeface="맑은 고딕"/>
              </a:rPr>
              <a:t>67.2%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744200" y="3886200"/>
            <a:ext cx="5943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750" b="1" i="0">
                <a:solidFill>
                  <a:srgbClr val="E04F4F"/>
                </a:solidFill>
                <a:latin typeface="맑은 고딕"/>
              </a:rPr>
              <a:t>▲ 0.3p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595360" y="4407408"/>
            <a:ext cx="278892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686800" y="4480560"/>
            <a:ext cx="2286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00" b="1" i="0">
                <a:solidFill>
                  <a:srgbClr val="1B2A41"/>
                </a:solidFill>
                <a:latin typeface="맑은 고딕"/>
              </a:rPr>
              <a:t>🔥 오늘 많이 언급된 키워드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705088" y="4818888"/>
            <a:ext cx="745236" cy="219456"/>
          </a:xfrm>
          <a:prstGeom prst="roundRect">
            <a:avLst>
              <a:gd name="adj" fmla="val 50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0" i="0">
                <a:solidFill>
                  <a:srgbClr val="0E9F8E"/>
                </a:solidFill>
                <a:latin typeface="맑은 고딕"/>
              </a:rPr>
              <a:t>#토지거래허가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523476" y="4818888"/>
            <a:ext cx="589788" cy="219456"/>
          </a:xfrm>
          <a:prstGeom prst="roundRect">
            <a:avLst>
              <a:gd name="adj" fmla="val 50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0" i="0">
                <a:solidFill>
                  <a:srgbClr val="0E9F8E"/>
                </a:solidFill>
                <a:latin typeface="맑은 고딕"/>
              </a:rPr>
              <a:t>#기준금리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186415" y="4818888"/>
            <a:ext cx="434340" cy="219456"/>
          </a:xfrm>
          <a:prstGeom prst="roundRect">
            <a:avLst>
              <a:gd name="adj" fmla="val 50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0" i="0">
                <a:solidFill>
                  <a:srgbClr val="0E9F8E"/>
                </a:solidFill>
                <a:latin typeface="맑은 고딕"/>
              </a:rPr>
              <a:t>#청약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693907" y="4818888"/>
            <a:ext cx="512064" cy="219456"/>
          </a:xfrm>
          <a:prstGeom prst="roundRect">
            <a:avLst>
              <a:gd name="adj" fmla="val 50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0" i="0">
                <a:solidFill>
                  <a:srgbClr val="0E9F8E"/>
                </a:solidFill>
                <a:latin typeface="맑은 고딕"/>
              </a:rPr>
              <a:t>#전세난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705088" y="5093208"/>
            <a:ext cx="512064" cy="219456"/>
          </a:xfrm>
          <a:prstGeom prst="roundRect">
            <a:avLst>
              <a:gd name="adj" fmla="val 50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0" i="0">
                <a:solidFill>
                  <a:srgbClr val="0E9F8E"/>
                </a:solidFill>
                <a:latin typeface="맑은 고딕"/>
              </a:rPr>
              <a:t>#재건축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290304" y="5093208"/>
            <a:ext cx="512064" cy="219456"/>
          </a:xfrm>
          <a:prstGeom prst="roundRect">
            <a:avLst>
              <a:gd name="adj" fmla="val 50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0" i="0">
                <a:solidFill>
                  <a:srgbClr val="0E9F8E"/>
                </a:solidFill>
                <a:latin typeface="맑은 고딕"/>
              </a:rPr>
              <a:t>#DSR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875520" y="5093208"/>
            <a:ext cx="512064" cy="219456"/>
          </a:xfrm>
          <a:prstGeom prst="roundRect">
            <a:avLst>
              <a:gd name="adj" fmla="val 50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0" i="0">
                <a:solidFill>
                  <a:srgbClr val="0E9F8E"/>
                </a:solidFill>
                <a:latin typeface="맑은 고딕"/>
              </a:rPr>
              <a:t>#GTX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595360" y="5733288"/>
            <a:ext cx="2788920" cy="777240"/>
          </a:xfrm>
          <a:prstGeom prst="roundRect">
            <a:avLst>
              <a:gd name="adj" fmla="val 5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686800" y="5806440"/>
            <a:ext cx="26517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950" b="1" i="0">
                <a:solidFill>
                  <a:srgbClr val="FFFFFF"/>
                </a:solidFill>
                <a:latin typeface="맑은 고딕"/>
              </a:rPr>
              <a:t>매일 아침 메일로 받아보기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705088" y="6117336"/>
            <a:ext cx="173736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750" b="0" i="0">
                <a:solidFill>
                  <a:srgbClr val="6B7580"/>
                </a:solidFill>
                <a:latin typeface="맑은 고딕"/>
              </a:rPr>
              <a:t>이메일 주소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15600" y="6117336"/>
            <a:ext cx="731520" cy="274320"/>
          </a:xfrm>
          <a:prstGeom prst="rect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구독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1" i="0">
                <a:solidFill>
                  <a:srgbClr val="1B2A41"/>
                </a:solidFill>
                <a:latin typeface="맑은 고딕"/>
              </a:rPr>
              <a:t>예상 화면 ② 기사 카드 상세 · 날짜별 아카이브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6B7580"/>
                </a:solidFill>
                <a:latin typeface="맑은 고딕"/>
              </a:rPr>
              <a:t>기사를 클릭하면 요약·핵심수치·원문 링크를 보여주고, 과거 날짜의 뉴스도 달력에서 찾아볼 수 있음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r"/>
            <a:r>
              <a:rPr sz="900" b="0" i="0">
                <a:solidFill>
                  <a:srgbClr val="6B7580"/>
                </a:solidFill>
                <a:latin typeface="맑은 고딕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900" b="0" i="0">
                <a:solidFill>
                  <a:srgbClr val="6B7580"/>
                </a:solidFill>
                <a:latin typeface="맑은 고딕"/>
              </a:rPr>
              <a:t>Daily House · 부동산 데일리 뉴스 페이지 기획안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66928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정책·규제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499616"/>
            <a:ext cx="27432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800" b="0" i="0">
                <a:solidFill>
                  <a:srgbClr val="6B7580"/>
                </a:solidFill>
                <a:latin typeface="맑은 고딕"/>
              </a:rPr>
              <a:t>2026.10.27 06:00 수집  ·  출처 5개 매체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783080"/>
            <a:ext cx="530352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500" b="1" i="0">
                <a:solidFill>
                  <a:srgbClr val="222B36"/>
                </a:solidFill>
                <a:latin typeface="맑은 고딕"/>
              </a:rPr>
              <a:t>서울 전역 토지거래허가구역 재지정…</a:t>
            </a:r>
          </a:p>
          <a:p>
            <a:pPr algn="l"/>
            <a:r>
              <a:rPr sz="1500" b="1" i="0">
                <a:solidFill>
                  <a:srgbClr val="222B36"/>
                </a:solidFill>
                <a:latin typeface="맑은 고딕"/>
              </a:rPr>
              <a:t>거래 위축 vs 전세가 상승 우려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14600"/>
            <a:ext cx="5212080" cy="1325880"/>
          </a:xfrm>
          <a:prstGeom prst="roundRect">
            <a:avLst>
              <a:gd name="adj" fmla="val 5000"/>
            </a:avLst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514600"/>
            <a:ext cx="64008" cy="1325880"/>
          </a:xfrm>
          <a:prstGeom prst="rect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" y="2560320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00" b="1" i="0">
                <a:solidFill>
                  <a:srgbClr val="F27D26"/>
                </a:solidFill>
                <a:latin typeface="맑은 고딕"/>
              </a:rPr>
              <a:t>AI 3줄 요약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834639"/>
            <a:ext cx="484632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900">
                <a:solidFill>
                  <a:srgbClr val="222B36"/>
                </a:solidFill>
                <a:latin typeface="맑은 고딕"/>
              </a:rPr>
              <a:t>• 서울시, 강남3구·용산구 토지거래허가구역을 2027년 4월까지 6개월 연장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222B36"/>
                </a:solidFill>
                <a:latin typeface="맑은 고딕"/>
              </a:rPr>
              <a:t>• 실거주 의무로 갭투자 차단 → 거래량 감소, 반면 전세 매물 감소로 전세가 상승 압력</a:t>
            </a:r>
          </a:p>
          <a:p>
            <a:pPr algn="l">
              <a:spcAft>
                <a:spcPts val="200"/>
              </a:spcAft>
            </a:pPr>
            <a:r>
              <a:rPr sz="900">
                <a:solidFill>
                  <a:srgbClr val="222B36"/>
                </a:solidFill>
                <a:latin typeface="맑은 고딕"/>
              </a:rPr>
              <a:t>• 업계는 풍선효과(마포·성동 등 인접 지역) 가능성에 주목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977639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00" b="1" i="0">
                <a:solidFill>
                  <a:srgbClr val="1B2A41"/>
                </a:solidFill>
                <a:latin typeface="맑은 고딕"/>
              </a:rPr>
              <a:t>💡 왜 중요한가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24528"/>
            <a:ext cx="52120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900" b="0" i="0">
                <a:solidFill>
                  <a:srgbClr val="222B36"/>
                </a:solidFill>
                <a:latin typeface="맑은 고딕"/>
              </a:rPr>
              <a:t>매수 계획이 있다면 허가 요건(실거주 2년)을 확인해야 하고, 전세 세입자는 갱신 시점을 앞당겨 검토할 필요가 있습니다.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754879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00" b="1" i="0">
                <a:solidFill>
                  <a:srgbClr val="1B2A41"/>
                </a:solidFill>
                <a:latin typeface="맑은 고딕"/>
              </a:rPr>
              <a:t>📰 관련 기사 원문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" y="5029200"/>
            <a:ext cx="82296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0E9F8E"/>
                </a:solidFill>
                <a:latin typeface="맑은 고딕"/>
              </a:rPr>
              <a:t>연합뉴스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19" y="5029200"/>
            <a:ext cx="38404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 i="0">
                <a:solidFill>
                  <a:srgbClr val="222B36"/>
                </a:solidFill>
                <a:latin typeface="맑은 고딕"/>
              </a:rPr>
              <a:t>서울시, 토허구역 6개월 연장 확정  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59" y="5303520"/>
            <a:ext cx="82296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0E9F8E"/>
                </a:solidFill>
                <a:latin typeface="맑은 고딕"/>
              </a:rPr>
              <a:t>한국경제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19" y="5303520"/>
            <a:ext cx="38404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 i="0">
                <a:solidFill>
                  <a:srgbClr val="222B36"/>
                </a:solidFill>
                <a:latin typeface="맑은 고딕"/>
              </a:rPr>
              <a:t>토허제 연장에 강남 거래 '꽁꽁'  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59" y="5577840"/>
            <a:ext cx="82296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00" b="1" i="0">
                <a:solidFill>
                  <a:srgbClr val="0E9F8E"/>
                </a:solidFill>
                <a:latin typeface="맑은 고딕"/>
              </a:rPr>
              <a:t>조선비즈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19" y="5577840"/>
            <a:ext cx="38404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 i="0">
                <a:solidFill>
                  <a:srgbClr val="222B36"/>
                </a:solidFill>
                <a:latin typeface="맑은 고딕"/>
              </a:rPr>
              <a:t>풍선효과 우려… 마포·성동 호가 들썩  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852159"/>
            <a:ext cx="5212080" cy="914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0" y="1280160"/>
            <a:ext cx="50292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12280" y="1463039"/>
            <a:ext cx="27432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300" b="1" i="0">
                <a:solidFill>
                  <a:srgbClr val="1B2A41"/>
                </a:solidFill>
                <a:latin typeface="맑은 고딕"/>
              </a:rPr>
              <a:t>📅 지난 뉴스 보기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12280" y="1828800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00" b="1" i="0">
                <a:solidFill>
                  <a:srgbClr val="222B36"/>
                </a:solidFill>
                <a:latin typeface="맑은 고딕"/>
              </a:rPr>
              <a:t>◀   2026년 10월   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2194560"/>
            <a:ext cx="6400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800" b="0" i="0">
                <a:solidFill>
                  <a:srgbClr val="E04F4F"/>
                </a:solidFill>
                <a:latin typeface="맑은 고딕"/>
              </a:rPr>
              <a:t>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2194560"/>
            <a:ext cx="6400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800" b="0" i="0">
                <a:solidFill>
                  <a:srgbClr val="6B7580"/>
                </a:solidFill>
                <a:latin typeface="맑은 고딕"/>
              </a:rPr>
              <a:t>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2194560"/>
            <a:ext cx="6400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800" b="0" i="0">
                <a:solidFill>
                  <a:srgbClr val="6B7580"/>
                </a:solidFill>
                <a:latin typeface="맑은 고딕"/>
              </a:rPr>
              <a:t>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0" y="2194560"/>
            <a:ext cx="6400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800" b="0" i="0">
                <a:solidFill>
                  <a:srgbClr val="6B7580"/>
                </a:solidFill>
                <a:latin typeface="맑은 고딕"/>
              </a:rPr>
              <a:t>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18320" y="2194560"/>
            <a:ext cx="6400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800" b="0" i="0">
                <a:solidFill>
                  <a:srgbClr val="6B7580"/>
                </a:solidFill>
                <a:latin typeface="맑은 고딕"/>
              </a:rPr>
              <a:t>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0" y="2194560"/>
            <a:ext cx="6400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800" b="0" i="0">
                <a:solidFill>
                  <a:srgbClr val="6B7580"/>
                </a:solidFill>
                <a:latin typeface="맑은 고딕"/>
              </a:rPr>
              <a:t>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98480" y="2194560"/>
            <a:ext cx="6400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800" b="0" i="0">
                <a:solidFill>
                  <a:srgbClr val="6B7580"/>
                </a:solidFill>
                <a:latin typeface="맑은 고딕"/>
              </a:rPr>
              <a:t>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18320" y="25145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1</a:t>
            </a:r>
          </a:p>
        </p:txBody>
      </p:sp>
      <p:sp>
        <p:nvSpPr>
          <p:cNvPr id="36" name="Oval 35"/>
          <p:cNvSpPr/>
          <p:nvPr/>
        </p:nvSpPr>
        <p:spPr>
          <a:xfrm>
            <a:off x="9701784" y="27980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58400" y="25145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2</a:t>
            </a:r>
          </a:p>
        </p:txBody>
      </p:sp>
      <p:sp>
        <p:nvSpPr>
          <p:cNvPr id="38" name="Oval 37"/>
          <p:cNvSpPr/>
          <p:nvPr/>
        </p:nvSpPr>
        <p:spPr>
          <a:xfrm>
            <a:off x="10341864" y="27980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698480" y="25145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3</a:t>
            </a:r>
          </a:p>
        </p:txBody>
      </p:sp>
      <p:sp>
        <p:nvSpPr>
          <p:cNvPr id="40" name="Oval 39"/>
          <p:cNvSpPr/>
          <p:nvPr/>
        </p:nvSpPr>
        <p:spPr>
          <a:xfrm>
            <a:off x="10981944" y="27980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0" y="29717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4</a:t>
            </a:r>
          </a:p>
        </p:txBody>
      </p:sp>
      <p:sp>
        <p:nvSpPr>
          <p:cNvPr id="42" name="Oval 41"/>
          <p:cNvSpPr/>
          <p:nvPr/>
        </p:nvSpPr>
        <p:spPr>
          <a:xfrm>
            <a:off x="7141464" y="32552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79" y="29717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5</a:t>
            </a:r>
          </a:p>
        </p:txBody>
      </p:sp>
      <p:sp>
        <p:nvSpPr>
          <p:cNvPr id="44" name="Oval 43"/>
          <p:cNvSpPr/>
          <p:nvPr/>
        </p:nvSpPr>
        <p:spPr>
          <a:xfrm>
            <a:off x="7781544" y="32552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38160" y="29717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6</a:t>
            </a:r>
          </a:p>
        </p:txBody>
      </p:sp>
      <p:sp>
        <p:nvSpPr>
          <p:cNvPr id="46" name="Oval 45"/>
          <p:cNvSpPr/>
          <p:nvPr/>
        </p:nvSpPr>
        <p:spPr>
          <a:xfrm>
            <a:off x="8421624" y="32552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78240" y="29717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7</a:t>
            </a:r>
          </a:p>
        </p:txBody>
      </p:sp>
      <p:sp>
        <p:nvSpPr>
          <p:cNvPr id="48" name="Oval 47"/>
          <p:cNvSpPr/>
          <p:nvPr/>
        </p:nvSpPr>
        <p:spPr>
          <a:xfrm>
            <a:off x="9061704" y="32552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418320" y="29717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8</a:t>
            </a:r>
          </a:p>
        </p:txBody>
      </p:sp>
      <p:sp>
        <p:nvSpPr>
          <p:cNvPr id="50" name="Oval 49"/>
          <p:cNvSpPr/>
          <p:nvPr/>
        </p:nvSpPr>
        <p:spPr>
          <a:xfrm>
            <a:off x="9701784" y="32552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58400" y="29717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9</a:t>
            </a:r>
          </a:p>
        </p:txBody>
      </p:sp>
      <p:sp>
        <p:nvSpPr>
          <p:cNvPr id="52" name="Oval 51"/>
          <p:cNvSpPr/>
          <p:nvPr/>
        </p:nvSpPr>
        <p:spPr>
          <a:xfrm>
            <a:off x="10341864" y="32552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698480" y="29717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10</a:t>
            </a:r>
          </a:p>
        </p:txBody>
      </p:sp>
      <p:sp>
        <p:nvSpPr>
          <p:cNvPr id="54" name="Oval 53"/>
          <p:cNvSpPr/>
          <p:nvPr/>
        </p:nvSpPr>
        <p:spPr>
          <a:xfrm>
            <a:off x="10981944" y="32552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58000" y="34289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11</a:t>
            </a:r>
          </a:p>
        </p:txBody>
      </p:sp>
      <p:sp>
        <p:nvSpPr>
          <p:cNvPr id="56" name="Oval 55"/>
          <p:cNvSpPr/>
          <p:nvPr/>
        </p:nvSpPr>
        <p:spPr>
          <a:xfrm>
            <a:off x="7141464" y="37124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498079" y="34289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12</a:t>
            </a:r>
          </a:p>
        </p:txBody>
      </p:sp>
      <p:sp>
        <p:nvSpPr>
          <p:cNvPr id="58" name="Oval 57"/>
          <p:cNvSpPr/>
          <p:nvPr/>
        </p:nvSpPr>
        <p:spPr>
          <a:xfrm>
            <a:off x="7781544" y="37124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38160" y="34289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13</a:t>
            </a:r>
          </a:p>
        </p:txBody>
      </p:sp>
      <p:sp>
        <p:nvSpPr>
          <p:cNvPr id="60" name="Oval 59"/>
          <p:cNvSpPr/>
          <p:nvPr/>
        </p:nvSpPr>
        <p:spPr>
          <a:xfrm>
            <a:off x="8421624" y="37124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778240" y="34289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14</a:t>
            </a:r>
          </a:p>
        </p:txBody>
      </p:sp>
      <p:sp>
        <p:nvSpPr>
          <p:cNvPr id="62" name="Oval 61"/>
          <p:cNvSpPr/>
          <p:nvPr/>
        </p:nvSpPr>
        <p:spPr>
          <a:xfrm>
            <a:off x="9061704" y="37124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418320" y="34289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15</a:t>
            </a:r>
          </a:p>
        </p:txBody>
      </p:sp>
      <p:sp>
        <p:nvSpPr>
          <p:cNvPr id="64" name="Oval 63"/>
          <p:cNvSpPr/>
          <p:nvPr/>
        </p:nvSpPr>
        <p:spPr>
          <a:xfrm>
            <a:off x="9701784" y="37124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058400" y="34289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16</a:t>
            </a:r>
          </a:p>
        </p:txBody>
      </p:sp>
      <p:sp>
        <p:nvSpPr>
          <p:cNvPr id="66" name="Oval 65"/>
          <p:cNvSpPr/>
          <p:nvPr/>
        </p:nvSpPr>
        <p:spPr>
          <a:xfrm>
            <a:off x="10341864" y="37124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698480" y="34289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17</a:t>
            </a:r>
          </a:p>
        </p:txBody>
      </p:sp>
      <p:sp>
        <p:nvSpPr>
          <p:cNvPr id="68" name="Oval 67"/>
          <p:cNvSpPr/>
          <p:nvPr/>
        </p:nvSpPr>
        <p:spPr>
          <a:xfrm>
            <a:off x="10981944" y="37124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858000" y="38861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18</a:t>
            </a:r>
          </a:p>
        </p:txBody>
      </p:sp>
      <p:sp>
        <p:nvSpPr>
          <p:cNvPr id="70" name="Oval 69"/>
          <p:cNvSpPr/>
          <p:nvPr/>
        </p:nvSpPr>
        <p:spPr>
          <a:xfrm>
            <a:off x="7141464" y="41696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498079" y="38861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19</a:t>
            </a:r>
          </a:p>
        </p:txBody>
      </p:sp>
      <p:sp>
        <p:nvSpPr>
          <p:cNvPr id="72" name="Oval 71"/>
          <p:cNvSpPr/>
          <p:nvPr/>
        </p:nvSpPr>
        <p:spPr>
          <a:xfrm>
            <a:off x="7781544" y="41696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138160" y="38861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20</a:t>
            </a:r>
          </a:p>
        </p:txBody>
      </p:sp>
      <p:sp>
        <p:nvSpPr>
          <p:cNvPr id="74" name="Oval 73"/>
          <p:cNvSpPr/>
          <p:nvPr/>
        </p:nvSpPr>
        <p:spPr>
          <a:xfrm>
            <a:off x="8421624" y="41696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778240" y="38861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21</a:t>
            </a:r>
          </a:p>
        </p:txBody>
      </p:sp>
      <p:sp>
        <p:nvSpPr>
          <p:cNvPr id="76" name="Oval 75"/>
          <p:cNvSpPr/>
          <p:nvPr/>
        </p:nvSpPr>
        <p:spPr>
          <a:xfrm>
            <a:off x="9061704" y="41696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418320" y="38861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22</a:t>
            </a:r>
          </a:p>
        </p:txBody>
      </p:sp>
      <p:sp>
        <p:nvSpPr>
          <p:cNvPr id="78" name="Oval 77"/>
          <p:cNvSpPr/>
          <p:nvPr/>
        </p:nvSpPr>
        <p:spPr>
          <a:xfrm>
            <a:off x="9701784" y="41696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058400" y="38861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23</a:t>
            </a:r>
          </a:p>
        </p:txBody>
      </p:sp>
      <p:sp>
        <p:nvSpPr>
          <p:cNvPr id="80" name="Oval 79"/>
          <p:cNvSpPr/>
          <p:nvPr/>
        </p:nvSpPr>
        <p:spPr>
          <a:xfrm>
            <a:off x="10341864" y="41696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698480" y="38861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24</a:t>
            </a:r>
          </a:p>
        </p:txBody>
      </p:sp>
      <p:sp>
        <p:nvSpPr>
          <p:cNvPr id="82" name="Oval 81"/>
          <p:cNvSpPr/>
          <p:nvPr/>
        </p:nvSpPr>
        <p:spPr>
          <a:xfrm>
            <a:off x="10981944" y="4169663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58000" y="43433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25</a:t>
            </a:r>
          </a:p>
        </p:txBody>
      </p:sp>
      <p:sp>
        <p:nvSpPr>
          <p:cNvPr id="84" name="Oval 83"/>
          <p:cNvSpPr/>
          <p:nvPr/>
        </p:nvSpPr>
        <p:spPr>
          <a:xfrm>
            <a:off x="7141464" y="4626864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498079" y="43433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26</a:t>
            </a:r>
          </a:p>
        </p:txBody>
      </p:sp>
      <p:sp>
        <p:nvSpPr>
          <p:cNvPr id="86" name="Oval 85"/>
          <p:cNvSpPr/>
          <p:nvPr/>
        </p:nvSpPr>
        <p:spPr>
          <a:xfrm>
            <a:off x="7781544" y="4626864"/>
            <a:ext cx="73152" cy="73152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8211312" y="4325112"/>
            <a:ext cx="493775" cy="365760"/>
          </a:xfrm>
          <a:prstGeom prst="roundRect">
            <a:avLst>
              <a:gd name="adj" fmla="val 20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138160" y="43433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27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778240" y="43433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D9DEE3"/>
                </a:solidFill>
                <a:latin typeface="맑은 고딕"/>
              </a:rPr>
              <a:t>28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418320" y="43433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D9DEE3"/>
                </a:solidFill>
                <a:latin typeface="맑은 고딕"/>
              </a:rPr>
              <a:t>29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058400" y="43433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D9DEE3"/>
                </a:solidFill>
                <a:latin typeface="맑은 고딕"/>
              </a:rPr>
              <a:t>30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698480" y="4343399"/>
            <a:ext cx="6400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D9DEE3"/>
                </a:solidFill>
                <a:latin typeface="맑은 고딕"/>
              </a:rPr>
              <a:t>31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858000" y="4892040"/>
            <a:ext cx="4480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800" b="0" i="0">
                <a:solidFill>
                  <a:srgbClr val="6B7580"/>
                </a:solidFill>
                <a:latin typeface="맑은 고딕"/>
              </a:rPr>
              <a:t>● 주황 점 = 발행된 날 (하루 1회 자동 생성, 365일 누적)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812280" y="5212079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949440" y="525780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900" b="1" i="0">
                <a:solidFill>
                  <a:srgbClr val="1B2A41"/>
                </a:solidFill>
                <a:latin typeface="맑은 고딕"/>
              </a:rPr>
              <a:t>10월 26일 (일) 요약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949440" y="5486400"/>
            <a:ext cx="42976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800" b="0" i="0">
                <a:solidFill>
                  <a:srgbClr val="222B36"/>
                </a:solidFill>
                <a:latin typeface="맑은 고딕"/>
              </a:rPr>
              <a:t>기사 19건 · 주요 이슈: 10월 4주 청약 결과, 주담대 변동금리 하락, 1기 신도시 선도지구 발표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1" i="0">
                <a:solidFill>
                  <a:srgbClr val="1B2A41"/>
                </a:solidFill>
                <a:latin typeface="맑은 고딕"/>
              </a:rPr>
              <a:t>예상 화면 ③ 모바일 · 이메일 뉴스레터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6B7580"/>
                </a:solidFill>
                <a:latin typeface="맑은 고딕"/>
              </a:rPr>
              <a:t>대부분 아침 출근길에 폰으로 볼 것이므로 모바일을 1순위로 설계 / 동일 데이터로 메일 템플릿도 자동 생성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r"/>
            <a:r>
              <a:rPr sz="900" b="0" i="0">
                <a:solidFill>
                  <a:srgbClr val="6B7580"/>
                </a:solidFill>
                <a:latin typeface="맑은 고딕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900" b="0" i="0">
                <a:solidFill>
                  <a:srgbClr val="6B7580"/>
                </a:solidFill>
                <a:latin typeface="맑은 고딕"/>
              </a:rPr>
              <a:t>Daily House · 부동산 데일리 뉴스 페이지 기획안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2377440" cy="4754880"/>
          </a:xfrm>
          <a:prstGeom prst="roundRect">
            <a:avLst>
              <a:gd name="adj" fmla="val 12000"/>
            </a:avLst>
          </a:prstGeom>
          <a:solidFill>
            <a:srgbClr val="22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399032"/>
            <a:ext cx="2231136" cy="46085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5920" y="1453895"/>
            <a:ext cx="548640" cy="91440"/>
          </a:xfrm>
          <a:prstGeom prst="roundRect">
            <a:avLst>
              <a:gd name="adj" fmla="val 50000"/>
            </a:avLst>
          </a:prstGeom>
          <a:solidFill>
            <a:srgbClr val="22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600200"/>
            <a:ext cx="2231136" cy="41148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6112" y="1645920"/>
            <a:ext cx="13716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🏠 Daily House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8608" y="1645920"/>
            <a:ext cx="3657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2057400"/>
            <a:ext cx="20116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750" b="0" i="0">
                <a:solidFill>
                  <a:srgbClr val="6B7580"/>
                </a:solidFill>
                <a:latin typeface="맑은 고딕"/>
              </a:rPr>
              <a:t>10월 27일 (화) · 27건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2286000"/>
            <a:ext cx="384048" cy="201168"/>
          </a:xfrm>
          <a:prstGeom prst="roundRect">
            <a:avLst>
              <a:gd name="adj" fmla="val 50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00" b="1" i="0">
                <a:solidFill>
                  <a:srgbClr val="FFFFFF"/>
                </a:solidFill>
                <a:latin typeface="맑은 고딕"/>
              </a:rPr>
              <a:t>전체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5880" y="2286000"/>
            <a:ext cx="384048" cy="201168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00" b="0" i="0">
                <a:solidFill>
                  <a:srgbClr val="6B7580"/>
                </a:solidFill>
                <a:latin typeface="맑은 고딕"/>
              </a:rPr>
              <a:t>매매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55648" y="2286000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00" b="0" i="0">
                <a:solidFill>
                  <a:srgbClr val="6B7580"/>
                </a:solidFill>
                <a:latin typeface="맑은 고딕"/>
              </a:rPr>
              <a:t>전·월세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04288" y="2286000"/>
            <a:ext cx="384048" cy="201168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00" b="0" i="0">
                <a:solidFill>
                  <a:srgbClr val="6B7580"/>
                </a:solidFill>
                <a:latin typeface="맑은 고딕"/>
              </a:rPr>
              <a:t>정책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34056" y="2286000"/>
            <a:ext cx="384048" cy="201168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00" b="0" i="0">
                <a:solidFill>
                  <a:srgbClr val="6B7580"/>
                </a:solidFill>
                <a:latin typeface="맑은 고딕"/>
              </a:rPr>
              <a:t>청약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" y="2560320"/>
            <a:ext cx="2048255" cy="11887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" y="2560320"/>
            <a:ext cx="2048255" cy="502920"/>
          </a:xfrm>
          <a:prstGeom prst="roundRect">
            <a:avLst>
              <a:gd name="adj" fmla="val 6000"/>
            </a:avLst>
          </a:prstGeom>
          <a:solidFill>
            <a:srgbClr val="B8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9264" y="3108960"/>
            <a:ext cx="685800" cy="201168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</a:rPr>
              <a:t>정책·규제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319272"/>
            <a:ext cx="2002536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800" b="1" i="0">
                <a:solidFill>
                  <a:srgbClr val="222B36"/>
                </a:solidFill>
                <a:latin typeface="맑은 고딕"/>
              </a:rPr>
              <a:t>서울 전역 토허구역 재지정… 시장 영향은?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" y="384048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53312" y="3813048"/>
            <a:ext cx="1572768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700" b="1" i="0">
                <a:solidFill>
                  <a:srgbClr val="222B36"/>
                </a:solidFill>
                <a:latin typeface="맑은 고딕"/>
              </a:rPr>
              <a:t>한은 기준금리 동결, 주담대 ↓ 전망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53312" y="4023360"/>
            <a:ext cx="15727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650" b="0" i="0">
                <a:solidFill>
                  <a:srgbClr val="6B7580"/>
                </a:solidFill>
                <a:latin typeface="맑은 고딕"/>
              </a:rPr>
              <a:t>한국경제 · 요약 보기 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" y="4251960"/>
            <a:ext cx="2048255" cy="914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6112" y="429768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53312" y="4270248"/>
            <a:ext cx="1572768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700" b="1" i="0">
                <a:solidFill>
                  <a:srgbClr val="222B36"/>
                </a:solidFill>
                <a:latin typeface="맑은 고딕"/>
              </a:rPr>
              <a:t>이번주 청약: 과천·동탄 5개 단지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53312" y="4480560"/>
            <a:ext cx="15727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650" b="0" i="0">
                <a:solidFill>
                  <a:srgbClr val="6B7580"/>
                </a:solidFill>
                <a:latin typeface="맑은 고딕"/>
              </a:rPr>
              <a:t>매일경제 · 요약 보기 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" y="4709160"/>
            <a:ext cx="2048255" cy="914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6112" y="475488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53312" y="4727448"/>
            <a:ext cx="1572768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700" b="1" i="0">
                <a:solidFill>
                  <a:srgbClr val="222B36"/>
                </a:solidFill>
                <a:latin typeface="맑은 고딕"/>
              </a:rPr>
              <a:t>10월 4주 매매가 0.08% 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53312" y="4937760"/>
            <a:ext cx="15727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650" b="0" i="0">
                <a:solidFill>
                  <a:srgbClr val="6B7580"/>
                </a:solidFill>
                <a:latin typeface="맑은 고딕"/>
              </a:rPr>
              <a:t>부동산원 · 요약 보기 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" y="5166360"/>
            <a:ext cx="2048255" cy="914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6112" y="521208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53312" y="5184648"/>
            <a:ext cx="1572768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700" b="1" i="0">
                <a:solidFill>
                  <a:srgbClr val="222B36"/>
                </a:solidFill>
                <a:latin typeface="맑은 고딕"/>
              </a:rPr>
              <a:t>비아파트 공급대책 다음주 발표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53312" y="5394960"/>
            <a:ext cx="157276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650" b="0" i="0">
                <a:solidFill>
                  <a:srgbClr val="6B7580"/>
                </a:solidFill>
                <a:latin typeface="맑은 고딕"/>
              </a:rPr>
              <a:t>국토부 · 요약 보기 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2" y="5623560"/>
            <a:ext cx="2048255" cy="914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" y="5669280"/>
            <a:ext cx="223113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672" y="5687568"/>
            <a:ext cx="557784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550" b="0" i="0">
                <a:solidFill>
                  <a:srgbClr val="0E9F8E"/>
                </a:solidFill>
                <a:latin typeface="맑은 고딕"/>
              </a:rPr>
              <a:t>🏠</a:t>
            </a:r>
          </a:p>
          <a:p>
            <a:pPr algn="ctr"/>
            <a:r>
              <a:rPr sz="550" b="0" i="0">
                <a:solidFill>
                  <a:srgbClr val="0E9F8E"/>
                </a:solidFill>
                <a:latin typeface="맑은 고딕"/>
              </a:rPr>
              <a:t>오늘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62456" y="5687568"/>
            <a:ext cx="557784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550" b="0" i="0">
                <a:solidFill>
                  <a:srgbClr val="6B7580"/>
                </a:solidFill>
                <a:latin typeface="맑은 고딕"/>
              </a:rPr>
              <a:t>📅</a:t>
            </a:r>
          </a:p>
          <a:p>
            <a:pPr algn="ctr"/>
            <a:r>
              <a:rPr sz="550" b="0" i="0">
                <a:solidFill>
                  <a:srgbClr val="6B7580"/>
                </a:solidFill>
                <a:latin typeface="맑은 고딕"/>
              </a:rPr>
              <a:t>지난뉴스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0240" y="5687568"/>
            <a:ext cx="557784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550" b="0" i="0">
                <a:solidFill>
                  <a:srgbClr val="6B7580"/>
                </a:solidFill>
                <a:latin typeface="맑은 고딕"/>
              </a:rPr>
              <a:t>📊</a:t>
            </a:r>
          </a:p>
          <a:p>
            <a:pPr algn="ctr"/>
            <a:r>
              <a:rPr sz="550" b="0" i="0">
                <a:solidFill>
                  <a:srgbClr val="6B7580"/>
                </a:solidFill>
                <a:latin typeface="맑은 고딕"/>
              </a:rPr>
              <a:t>지표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78024" y="5687568"/>
            <a:ext cx="557784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550" b="0" i="0">
                <a:solidFill>
                  <a:srgbClr val="6B7580"/>
                </a:solidFill>
                <a:latin typeface="맑은 고딕"/>
              </a:rPr>
              <a:t>⚙</a:t>
            </a:r>
          </a:p>
          <a:p>
            <a:pPr algn="ctr"/>
            <a:r>
              <a:rPr sz="550" b="0" i="0">
                <a:solidFill>
                  <a:srgbClr val="6B7580"/>
                </a:solidFill>
                <a:latin typeface="맑은 고딕"/>
              </a:rPr>
              <a:t>설정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6126480"/>
            <a:ext cx="23774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6B7580"/>
                </a:solidFill>
                <a:latin typeface="맑은 고딕"/>
              </a:rPr>
              <a:t>모바일 메인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74720" y="1325880"/>
            <a:ext cx="2377440" cy="4754880"/>
          </a:xfrm>
          <a:prstGeom prst="roundRect">
            <a:avLst>
              <a:gd name="adj" fmla="val 12000"/>
            </a:avLst>
          </a:prstGeom>
          <a:solidFill>
            <a:srgbClr val="22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547872" y="1399032"/>
            <a:ext cx="2231136" cy="46085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389120" y="1453895"/>
            <a:ext cx="548640" cy="91440"/>
          </a:xfrm>
          <a:prstGeom prst="roundRect">
            <a:avLst>
              <a:gd name="adj" fmla="val 50000"/>
            </a:avLst>
          </a:prstGeom>
          <a:solidFill>
            <a:srgbClr val="22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547872" y="1600200"/>
            <a:ext cx="2231136" cy="4407408"/>
          </a:xfrm>
          <a:prstGeom prst="rect">
            <a:avLst/>
          </a:prstGeom>
          <a:solidFill>
            <a:srgbClr val="B0B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547872" y="2514600"/>
            <a:ext cx="2231136" cy="3493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434840" y="2606040"/>
            <a:ext cx="457200" cy="54864"/>
          </a:xfrm>
          <a:prstGeom prst="roundRect">
            <a:avLst>
              <a:gd name="adj" fmla="val 50000"/>
            </a:avLst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685032" y="2788920"/>
            <a:ext cx="685800" cy="201168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</a:rPr>
              <a:t>정책·규제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39312" y="3017520"/>
            <a:ext cx="2048255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900" b="1" i="0">
                <a:solidFill>
                  <a:srgbClr val="222B36"/>
                </a:solidFill>
                <a:latin typeface="맑은 고딕"/>
              </a:rPr>
              <a:t>서울 전역 토지거래허가구역 재지정… 시장 영향은?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85032" y="3566160"/>
            <a:ext cx="1956816" cy="1143000"/>
          </a:xfrm>
          <a:prstGeom prst="roundRect">
            <a:avLst>
              <a:gd name="adj" fmla="val 6000"/>
            </a:avLst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749039" y="3593592"/>
            <a:ext cx="18288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750" b="1" i="0">
                <a:solidFill>
                  <a:srgbClr val="F27D26"/>
                </a:solidFill>
                <a:latin typeface="맑은 고딕"/>
              </a:rPr>
              <a:t>AI 3줄 요약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30752" y="3813048"/>
            <a:ext cx="1865376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100"/>
              </a:spcAft>
            </a:pPr>
            <a:r>
              <a:rPr sz="700">
                <a:solidFill>
                  <a:srgbClr val="222B36"/>
                </a:solidFill>
                <a:latin typeface="맑은 고딕"/>
              </a:rPr>
              <a:t>• 강남3구·용산 6개월 연장</a:t>
            </a:r>
          </a:p>
          <a:p>
            <a:pPr algn="l">
              <a:spcAft>
                <a:spcPts val="100"/>
              </a:spcAft>
            </a:pPr>
            <a:r>
              <a:rPr sz="700">
                <a:solidFill>
                  <a:srgbClr val="222B36"/>
                </a:solidFill>
                <a:latin typeface="맑은 고딕"/>
              </a:rPr>
              <a:t>• 거래량 감소·전세가 상승 압력</a:t>
            </a:r>
          </a:p>
          <a:p>
            <a:pPr algn="l">
              <a:spcAft>
                <a:spcPts val="100"/>
              </a:spcAft>
            </a:pPr>
            <a:r>
              <a:rPr sz="700">
                <a:solidFill>
                  <a:srgbClr val="222B36"/>
                </a:solidFill>
                <a:latin typeface="맑은 고딕"/>
              </a:rPr>
              <a:t>• 마포·성동 풍선효과 주목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85032" y="4800600"/>
            <a:ext cx="18288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750" b="1" i="0">
                <a:solidFill>
                  <a:srgbClr val="1B2A41"/>
                </a:solidFill>
                <a:latin typeface="맑은 고딕"/>
              </a:rPr>
              <a:t>💡 왜 중요한가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85032" y="5001768"/>
            <a:ext cx="1956816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650" b="0" i="0">
                <a:solidFill>
                  <a:srgbClr val="222B36"/>
                </a:solidFill>
                <a:latin typeface="맑은 고딕"/>
              </a:rPr>
              <a:t>매수 계획자는 실거주 2년 요건 확인, 세입자는 갱신 시점 앞당겨 검토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85032" y="5486400"/>
            <a:ext cx="1956816" cy="320040"/>
          </a:xfrm>
          <a:prstGeom prst="roundRect">
            <a:avLst>
              <a:gd name="adj" fmla="val 30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1" i="0">
                <a:solidFill>
                  <a:srgbClr val="FFFFFF"/>
                </a:solidFill>
                <a:latin typeface="맑은 고딕"/>
              </a:rPr>
              <a:t>원문 보기 (연합뉴스 외 4건) 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74720" y="6126480"/>
            <a:ext cx="23774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6B7580"/>
                </a:solidFill>
                <a:latin typeface="맑은 고딕"/>
              </a:rPr>
              <a:t>기사 요약 (바텀 시트)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3680" y="1325880"/>
            <a:ext cx="50292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583680" y="1325880"/>
            <a:ext cx="5029200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766560" y="137160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800" b="0" i="0">
                <a:solidFill>
                  <a:srgbClr val="6B7580"/>
                </a:solidFill>
                <a:latin typeface="맑은 고딕"/>
              </a:rPr>
              <a:t>보낸사람: Daily House &lt;news@dailyhouse.kr&gt;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66560" y="1572768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900" b="1" i="0">
                <a:solidFill>
                  <a:srgbClr val="222B36"/>
                </a:solidFill>
                <a:latin typeface="맑은 고딕"/>
              </a:rPr>
              <a:t>제목: [10/27 화] 토허구역 재지정 · 기준금리 동결 · 청약 5곳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58000" y="2011680"/>
            <a:ext cx="4480560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949440" y="2057400"/>
            <a:ext cx="27432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🏠 Daily House  |  10월 27일 화요일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58000" y="2560320"/>
            <a:ext cx="4572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850" b="0" i="0">
                <a:solidFill>
                  <a:srgbClr val="222B36"/>
                </a:solidFill>
                <a:latin typeface="맑은 고딕"/>
              </a:rPr>
              <a:t>좋은 아침입니다. 오늘 부동산 시장에서 꼭 알아야 할 3가지입니다.</a:t>
            </a:r>
          </a:p>
        </p:txBody>
      </p:sp>
      <p:sp>
        <p:nvSpPr>
          <p:cNvPr id="67" name="Oval 66"/>
          <p:cNvSpPr/>
          <p:nvPr/>
        </p:nvSpPr>
        <p:spPr>
          <a:xfrm>
            <a:off x="6858000" y="2926080"/>
            <a:ext cx="320040" cy="320040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269480" y="2898648"/>
            <a:ext cx="40233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900" b="1" i="0">
                <a:solidFill>
                  <a:srgbClr val="222B36"/>
                </a:solidFill>
                <a:latin typeface="맑은 고딕"/>
              </a:rPr>
              <a:t>서울 토지거래허가구역 6개월 재지정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69480" y="3154680"/>
            <a:ext cx="40233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800" b="0" i="0">
                <a:solidFill>
                  <a:srgbClr val="6B7580"/>
                </a:solidFill>
                <a:latin typeface="맑은 고딕"/>
              </a:rPr>
              <a:t>강남3구·용산 실거주 의무 유지, 풍선효과 주목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58000" y="3520440"/>
            <a:ext cx="4480560" cy="914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858000" y="3657600"/>
            <a:ext cx="320040" cy="320040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69480" y="3630168"/>
            <a:ext cx="40233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900" b="1" i="0">
                <a:solidFill>
                  <a:srgbClr val="222B36"/>
                </a:solidFill>
                <a:latin typeface="맑은 고딕"/>
              </a:rPr>
              <a:t>한은 기준금리 2.50% 동결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69480" y="3886200"/>
            <a:ext cx="40233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800" b="0" i="0">
                <a:solidFill>
                  <a:srgbClr val="6B7580"/>
                </a:solidFill>
                <a:latin typeface="맑은 고딕"/>
              </a:rPr>
              <a:t>주담대 금리 소폭 하락 전망, 변동형 갈아타기 검토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58000" y="4251960"/>
            <a:ext cx="4480560" cy="914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858000" y="4389120"/>
            <a:ext cx="320040" cy="320040"/>
          </a:xfrm>
          <a:prstGeom prst="ellipse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69480" y="4361688"/>
            <a:ext cx="40233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900" b="1" i="0">
                <a:solidFill>
                  <a:srgbClr val="222B36"/>
                </a:solidFill>
                <a:latin typeface="맑은 고딕"/>
              </a:rPr>
              <a:t>이번주 청약 5개 단지 접수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69480" y="4617720"/>
            <a:ext cx="40233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800" b="0" i="0">
                <a:solidFill>
                  <a:srgbClr val="6B7580"/>
                </a:solidFill>
                <a:latin typeface="맑은 고딕"/>
              </a:rPr>
              <a:t>과천 지식정보타운·동탄2 등, 목요일 1순위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858000" y="4983480"/>
            <a:ext cx="4480560" cy="914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863840" y="5257800"/>
            <a:ext cx="2468880" cy="347472"/>
          </a:xfrm>
          <a:prstGeom prst="roundRect">
            <a:avLst>
              <a:gd name="adj" fmla="val 30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전체 기사 27건 웹에서 보기 →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858000" y="5760720"/>
            <a:ext cx="4480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700" b="0" i="0">
                <a:solidFill>
                  <a:srgbClr val="6B7580"/>
                </a:solidFill>
                <a:latin typeface="맑은 고딕"/>
              </a:rPr>
              <a:t>수신거부 · 카테고리 설정 · 발송시간 변경(기본 06:00)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83680" y="6126480"/>
            <a:ext cx="5029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6B7580"/>
                </a:solidFill>
                <a:latin typeface="맑은 고딕"/>
              </a:rPr>
              <a:t>이메일 뉴스레터 (선택 기능)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1" i="0">
                <a:solidFill>
                  <a:srgbClr val="1B2A41"/>
                </a:solidFill>
                <a:latin typeface="맑은 고딕"/>
              </a:rPr>
              <a:t>어떻게 만드나 — 전체 구조 (매일 06:00 자동 실행)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6B7580"/>
                </a:solidFill>
                <a:latin typeface="맑은 고딕"/>
              </a:rPr>
              <a:t>핵심은 '스케줄러 → 수집 → 요약 → 빌드 → 배포' 파이프라인. 서버 없이 GitHub Actions만으로 동작 가능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r"/>
            <a:r>
              <a:rPr sz="900" b="0" i="0">
                <a:solidFill>
                  <a:srgbClr val="6B7580"/>
                </a:solidFill>
                <a:latin typeface="맑은 고딕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900" b="0" i="0">
                <a:solidFill>
                  <a:srgbClr val="6B7580"/>
                </a:solidFill>
                <a:latin typeface="맑은 고딕"/>
              </a:rPr>
              <a:t>Daily House · 부동산 데일리 뉴스 페이지 기획안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727" y="1554480"/>
            <a:ext cx="1691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3727" y="1554480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3727" y="1783080"/>
            <a:ext cx="1691640" cy="2286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3727" y="1572768"/>
            <a:ext cx="169164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⏰ 스케줄러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447" y="2103120"/>
            <a:ext cx="160020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GitHub Actions</a:t>
            </a:r>
          </a:p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cron: 매일 05:30 KST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55367" y="2286000"/>
            <a:ext cx="1828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6B7580"/>
                </a:solidFill>
                <a:latin typeface="맑은 고딕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38247" y="1554480"/>
            <a:ext cx="1691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38247" y="1554480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247" y="1783080"/>
            <a:ext cx="1691640" cy="22860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247" y="1572768"/>
            <a:ext cx="169164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📥 수집기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83967" y="2103120"/>
            <a:ext cx="160020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네이버 뉴스 API</a:t>
            </a:r>
          </a:p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언론사 RSS 10여 곳</a:t>
            </a:r>
          </a:p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국토부·부동산원 RSS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29887" y="2286000"/>
            <a:ext cx="1828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6B7580"/>
                </a:solidFill>
                <a:latin typeface="맑은 고딕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2767" y="1554480"/>
            <a:ext cx="1691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12767" y="1554480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2767" y="1783080"/>
            <a:ext cx="1691640" cy="228600"/>
          </a:xfrm>
          <a:prstGeom prst="rect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2767" y="1572768"/>
            <a:ext cx="169164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🧹 정제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58487" y="2103120"/>
            <a:ext cx="160020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중복 제거(제목 유사도)</a:t>
            </a:r>
          </a:p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광고·홍보성 필터</a:t>
            </a:r>
          </a:p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카테고리 자동 분류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04407" y="2286000"/>
            <a:ext cx="1828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6B7580"/>
                </a:solidFill>
                <a:latin typeface="맑은 고딕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1554480"/>
            <a:ext cx="1691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87287" y="1554480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7287" y="1783080"/>
            <a:ext cx="1691640" cy="22860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7287" y="1572768"/>
            <a:ext cx="169164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🤖 AI 요약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3007" y="2103120"/>
            <a:ext cx="160020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OpenAI / Claude API</a:t>
            </a:r>
          </a:p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3줄 요약 + 중요도 점수</a:t>
            </a:r>
          </a:p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'왜 중요한가' 생성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78927" y="2286000"/>
            <a:ext cx="1828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6B7580"/>
                </a:solidFill>
                <a:latin typeface="맑은 고딕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1807" y="1554480"/>
            <a:ext cx="1691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61807" y="1554480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1807" y="1783080"/>
            <a:ext cx="1691640" cy="228600"/>
          </a:xfrm>
          <a:prstGeom prst="rect">
            <a:avLst/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61807" y="1572768"/>
            <a:ext cx="169164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💾 저장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07527" y="2103120"/>
            <a:ext cx="160020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JSON / Markdown 파일</a:t>
            </a:r>
          </a:p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(data/2026-10-27.json)</a:t>
            </a:r>
          </a:p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또는 Supabase DB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53447" y="2286000"/>
            <a:ext cx="1828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6B7580"/>
                </a:solidFill>
                <a:latin typeface="맑은 고딕"/>
              </a:rPr>
              <a:t>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36327" y="1554480"/>
            <a:ext cx="1691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6327" y="1554480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36327" y="1783080"/>
            <a:ext cx="1691640" cy="228600"/>
          </a:xfrm>
          <a:prstGeom prst="rect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36327" y="1572768"/>
            <a:ext cx="169164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🚀 빌드·배포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82047" y="2103120"/>
            <a:ext cx="160020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Next.js / Astro 정적 빌드</a:t>
            </a:r>
          </a:p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Vercel 또는 GitHub Pages</a:t>
            </a:r>
          </a:p>
          <a:p>
            <a:pPr algn="ctr"/>
            <a:r>
              <a:rPr sz="900" b="0" i="0">
                <a:solidFill>
                  <a:srgbClr val="222B36"/>
                </a:solidFill>
                <a:latin typeface="맑은 고딕"/>
              </a:rPr>
              <a:t>+ 이메일 발송(Resend)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300" b="1" i="0">
                <a:solidFill>
                  <a:srgbClr val="1B2A41"/>
                </a:solidFill>
                <a:latin typeface="맑은 고딕"/>
              </a:rPr>
              <a:t>데이터 소스 후보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023360"/>
            <a:ext cx="548640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b="1" sz="1000">
                <a:solidFill>
                  <a:srgbClr val="222B36"/>
                </a:solidFill>
                <a:latin typeface="맑은 고딕"/>
              </a:rPr>
              <a:t>• 네이버 검색 API(뉴스)</a:t>
            </a:r>
            <a:r>
              <a:rPr sz="1000">
                <a:solidFill>
                  <a:srgbClr val="6B7580"/>
                </a:solidFill>
                <a:latin typeface="맑은 고딕"/>
              </a:rPr>
              <a:t>  무료, 하루 25,000건. '부동산', '아파트 매매', '청약', '전세' 등 키워드 검색</a:t>
            </a:r>
          </a:p>
          <a:p>
            <a:pPr algn="l">
              <a:spcAft>
                <a:spcPts val="400"/>
              </a:spcAft>
            </a:pPr>
            <a:r>
              <a:rPr b="1" sz="1000">
                <a:solidFill>
                  <a:srgbClr val="222B36"/>
                </a:solidFill>
                <a:latin typeface="맑은 고딕"/>
              </a:rPr>
              <a:t>• 언론사 RSS</a:t>
            </a:r>
            <a:r>
              <a:rPr sz="1000">
                <a:solidFill>
                  <a:srgbClr val="6B7580"/>
                </a:solidFill>
                <a:latin typeface="맑은 고딕"/>
              </a:rPr>
              <a:t>  한국경제·매일경제·조선비즈 부동산 섹션, 연합뉴스 경제</a:t>
            </a:r>
          </a:p>
          <a:p>
            <a:pPr algn="l">
              <a:spcAft>
                <a:spcPts val="400"/>
              </a:spcAft>
            </a:pPr>
            <a:r>
              <a:rPr b="1" sz="1000">
                <a:solidFill>
                  <a:srgbClr val="222B36"/>
                </a:solidFill>
                <a:latin typeface="맑은 고딕"/>
              </a:rPr>
              <a:t>• 공공기관</a:t>
            </a:r>
            <a:r>
              <a:rPr sz="1000">
                <a:solidFill>
                  <a:srgbClr val="6B7580"/>
                </a:solidFill>
                <a:latin typeface="맑은 고딕"/>
              </a:rPr>
              <a:t>  국토교통부 보도자료 RSS, 한국부동산원 주간 동향, 한국은행 기준금리</a:t>
            </a:r>
          </a:p>
          <a:p>
            <a:pPr algn="l">
              <a:spcAft>
                <a:spcPts val="400"/>
              </a:spcAft>
            </a:pPr>
            <a:r>
              <a:rPr b="1" sz="1000">
                <a:solidFill>
                  <a:srgbClr val="222B36"/>
                </a:solidFill>
                <a:latin typeface="맑은 고딕"/>
              </a:rPr>
              <a:t>• 공공데이터포털</a:t>
            </a:r>
            <a:r>
              <a:rPr sz="1000">
                <a:solidFill>
                  <a:srgbClr val="6B7580"/>
                </a:solidFill>
                <a:latin typeface="맑은 고딕"/>
              </a:rPr>
              <a:t>  아파트 실거래가 API → 우측 '시장 지표' 위젯에 활용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657600"/>
            <a:ext cx="5486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300" b="1" i="0">
                <a:solidFill>
                  <a:srgbClr val="1B2A41"/>
                </a:solidFill>
                <a:latin typeface="맑은 고딕"/>
              </a:rPr>
              <a:t>기술 스택 (추천)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023360"/>
            <a:ext cx="530352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b="1" sz="1000">
                <a:solidFill>
                  <a:srgbClr val="222B36"/>
                </a:solidFill>
                <a:latin typeface="맑은 고딕"/>
              </a:rPr>
              <a:t>• 프론트엔드</a:t>
            </a:r>
            <a:r>
              <a:rPr sz="1000">
                <a:solidFill>
                  <a:srgbClr val="6B7580"/>
                </a:solidFill>
                <a:latin typeface="맑은 고딕"/>
              </a:rPr>
              <a:t>  Next.js(또는 Astro) + Tailwind CSS — 정적 생성(SSG)으로 빠르고 무료 호스팅</a:t>
            </a:r>
          </a:p>
          <a:p>
            <a:pPr algn="l">
              <a:spcAft>
                <a:spcPts val="400"/>
              </a:spcAft>
            </a:pPr>
            <a:r>
              <a:rPr b="1" sz="1000">
                <a:solidFill>
                  <a:srgbClr val="222B36"/>
                </a:solidFill>
                <a:latin typeface="맑은 고딕"/>
              </a:rPr>
              <a:t>• 수집/요약 스크립트</a:t>
            </a:r>
            <a:r>
              <a:rPr sz="1000">
                <a:solidFill>
                  <a:srgbClr val="6B7580"/>
                </a:solidFill>
                <a:latin typeface="맑은 고딕"/>
              </a:rPr>
              <a:t>  Python 또는 Node.js 단일 스크립트 (collect.py → summarize.py)</a:t>
            </a:r>
          </a:p>
          <a:p>
            <a:pPr algn="l">
              <a:spcAft>
                <a:spcPts val="400"/>
              </a:spcAft>
            </a:pPr>
            <a:r>
              <a:rPr b="1" sz="1000">
                <a:solidFill>
                  <a:srgbClr val="222B36"/>
                </a:solidFill>
                <a:latin typeface="맑은 고딕"/>
              </a:rPr>
              <a:t>• 스케줄러</a:t>
            </a:r>
            <a:r>
              <a:rPr sz="1000">
                <a:solidFill>
                  <a:srgbClr val="6B7580"/>
                </a:solidFill>
                <a:latin typeface="맑은 고딕"/>
              </a:rPr>
              <a:t>  GitHub Actions cron (서버·운영비 0원) — 추후 필요 시 Cloud Run/Lambda</a:t>
            </a:r>
          </a:p>
          <a:p>
            <a:pPr algn="l">
              <a:spcAft>
                <a:spcPts val="400"/>
              </a:spcAft>
            </a:pPr>
            <a:r>
              <a:rPr b="1" sz="1000">
                <a:solidFill>
                  <a:srgbClr val="222B36"/>
                </a:solidFill>
                <a:latin typeface="맑은 고딕"/>
              </a:rPr>
              <a:t>• 저장소</a:t>
            </a:r>
            <a:r>
              <a:rPr sz="1000">
                <a:solidFill>
                  <a:srgbClr val="6B7580"/>
                </a:solidFill>
                <a:latin typeface="맑은 고딕"/>
              </a:rPr>
              <a:t>  초기엔 Git 저장소 내 JSON 파일로 충분. 검색·구독자 관리 필요 시 Supabase</a:t>
            </a:r>
          </a:p>
          <a:p>
            <a:pPr algn="l">
              <a:spcAft>
                <a:spcPts val="400"/>
              </a:spcAft>
            </a:pPr>
            <a:r>
              <a:rPr b="1" sz="1000">
                <a:solidFill>
                  <a:srgbClr val="222B36"/>
                </a:solidFill>
                <a:latin typeface="맑은 고딕"/>
              </a:rPr>
              <a:t>• 배포</a:t>
            </a:r>
            <a:r>
              <a:rPr sz="1000">
                <a:solidFill>
                  <a:srgbClr val="6B7580"/>
                </a:solidFill>
                <a:latin typeface="맑은 고딕"/>
              </a:rPr>
              <a:t>  Vercel (무료) + 커스텀 도메인, 이메일은 Resend/Mailchimp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1" i="0">
                <a:solidFill>
                  <a:srgbClr val="1B2A41"/>
                </a:solidFill>
                <a:latin typeface="맑은 고딕"/>
              </a:rPr>
              <a:t>구현 로드맵 — 작게 시작해서 키우기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6B7580"/>
                </a:solidFill>
                <a:latin typeface="맑은 고딕"/>
              </a:rPr>
              <a:t>1단계만 완성해도 '매일 자동으로 갱신되는 부동산 뉴스 페이지'가 동작함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r"/>
            <a:r>
              <a:rPr sz="900" b="0" i="0">
                <a:solidFill>
                  <a:srgbClr val="6B7580"/>
                </a:solidFill>
                <a:latin typeface="맑은 고딕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900" b="0" i="0">
                <a:solidFill>
                  <a:srgbClr val="6B7580"/>
                </a:solidFill>
                <a:latin typeface="맑은 고딕"/>
              </a:rPr>
              <a:t>Daily House · 부동산 데일리 뉴스 페이지 기획안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56616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566160" cy="64008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25603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1단계 · MVP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0E9F8E"/>
                </a:solidFill>
                <a:latin typeface="맑은 고딕"/>
              </a:rPr>
              <a:t>1주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0E9F8E"/>
                </a:solidFill>
                <a:latin typeface="맑은 고딕"/>
              </a:rPr>
              <a:t>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194560"/>
            <a:ext cx="29260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50" b="0" i="0">
                <a:solidFill>
                  <a:srgbClr val="222B36"/>
                </a:solidFill>
                <a:latin typeface="맑은 고딕"/>
              </a:rPr>
              <a:t>네이버 뉴스 API + RSS 3곳 수집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34639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0E9F8E"/>
                </a:solidFill>
                <a:latin typeface="맑은 고딕"/>
              </a:rPr>
              <a:t>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834639"/>
            <a:ext cx="29260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50" b="0" i="0">
                <a:solidFill>
                  <a:srgbClr val="222B36"/>
                </a:solidFill>
                <a:latin typeface="맑은 고딕"/>
              </a:rPr>
              <a:t>중복 제거 · 5개 카테고리 분류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0E9F8E"/>
                </a:solidFill>
                <a:latin typeface="맑은 고딕"/>
              </a:rPr>
              <a:t>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474720"/>
            <a:ext cx="29260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50" b="0" i="0">
                <a:solidFill>
                  <a:srgbClr val="222B36"/>
                </a:solidFill>
                <a:latin typeface="맑은 고딕"/>
              </a:rPr>
              <a:t>LLM 3줄 요약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0E9F8E"/>
                </a:solidFill>
                <a:latin typeface="맑은 고딕"/>
              </a:rPr>
              <a:t>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4114800"/>
            <a:ext cx="29260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50" b="0" i="0">
                <a:solidFill>
                  <a:srgbClr val="222B36"/>
                </a:solidFill>
                <a:latin typeface="맑은 고딕"/>
              </a:rPr>
              <a:t>메인 페이지 1장 (오늘 뉴스 목록)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54879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0E9F8E"/>
                </a:solidFill>
                <a:latin typeface="맑은 고딕"/>
              </a:rPr>
              <a:t>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754879"/>
            <a:ext cx="29260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50" b="0" i="0">
                <a:solidFill>
                  <a:srgbClr val="222B36"/>
                </a:solidFill>
                <a:latin typeface="맑은 고딕"/>
              </a:rPr>
              <a:t>GitHub Actions로 매일 06:00 자동 발행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1371600"/>
            <a:ext cx="356616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79" y="1371600"/>
            <a:ext cx="3566160" cy="640080"/>
          </a:xfrm>
          <a:prstGeom prst="rect">
            <a:avLst/>
          </a:prstGeom>
          <a:solidFill>
            <a:srgbClr val="F27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1417320"/>
            <a:ext cx="25603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2단계 · 쓸모 강화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155448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27D26"/>
                </a:solidFill>
                <a:latin typeface="맑은 고딕"/>
              </a:rPr>
              <a:t>1~2주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219456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F27D26"/>
                </a:solidFill>
                <a:latin typeface="맑은 고딕"/>
              </a:rPr>
              <a:t>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79" y="2194560"/>
            <a:ext cx="29260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50" b="0" i="0">
                <a:solidFill>
                  <a:srgbClr val="222B36"/>
                </a:solidFill>
                <a:latin typeface="맑은 고딕"/>
              </a:rPr>
              <a:t>날짜별 아카이브(달력) · 검색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59" y="2834639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F27D26"/>
                </a:solidFill>
                <a:latin typeface="맑은 고딕"/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79" y="2834639"/>
            <a:ext cx="29260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50" b="0" i="0">
                <a:solidFill>
                  <a:srgbClr val="222B36"/>
                </a:solidFill>
                <a:latin typeface="맑은 고딕"/>
              </a:rPr>
              <a:t>기사 상세(요약 + 왜 중요한가 + 원문)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59" y="347472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F27D26"/>
                </a:solidFill>
                <a:latin typeface="맑은 고딕"/>
              </a:rPr>
              <a:t>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79" y="3474720"/>
            <a:ext cx="29260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50" b="0" i="0">
                <a:solidFill>
                  <a:srgbClr val="222B36"/>
                </a:solidFill>
                <a:latin typeface="맑은 고딕"/>
              </a:rPr>
              <a:t>시장 지표 위젯 (금리·매매지수)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59" y="411480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F27D26"/>
                </a:solidFill>
                <a:latin typeface="맑은 고딕"/>
              </a:rPr>
              <a:t>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79" y="4114800"/>
            <a:ext cx="29260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50" b="0" i="0">
                <a:solidFill>
                  <a:srgbClr val="222B36"/>
                </a:solidFill>
                <a:latin typeface="맑은 고딕"/>
              </a:rPr>
              <a:t>모바일 최적화 · 다크모드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59" y="4754879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F27D26"/>
                </a:solidFill>
                <a:latin typeface="맑은 고딕"/>
              </a:rPr>
              <a:t>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79" y="4754879"/>
            <a:ext cx="29260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50" b="0" i="0">
                <a:solidFill>
                  <a:srgbClr val="222B36"/>
                </a:solidFill>
                <a:latin typeface="맑은 고딕"/>
              </a:rPr>
              <a:t>커스텀 도메인 연결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19" y="1371600"/>
            <a:ext cx="356616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19" y="1371600"/>
            <a:ext cx="3566160" cy="640080"/>
          </a:xfrm>
          <a:prstGeom prst="rect">
            <a:avLst/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599" y="1417320"/>
            <a:ext cx="25603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3단계 · 구독 · 개인화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698480" y="155448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2F6FE4"/>
                </a:solidFill>
                <a:latin typeface="맑은 고딕"/>
              </a:rPr>
              <a:t>2주+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599" y="219456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2F6FE4"/>
                </a:solidFill>
                <a:latin typeface="맑은 고딕"/>
              </a:rPr>
              <a:t>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03919" y="2194560"/>
            <a:ext cx="29260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50" b="0" i="0">
                <a:solidFill>
                  <a:srgbClr val="222B36"/>
                </a:solidFill>
                <a:latin typeface="맑은 고딕"/>
              </a:rPr>
              <a:t>이메일 뉴스레터 구독/발송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599" y="2834639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2F6FE4"/>
                </a:solidFill>
                <a:latin typeface="맑은 고딕"/>
              </a:rPr>
              <a:t>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19" y="2834639"/>
            <a:ext cx="29260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50" b="0" i="0">
                <a:solidFill>
                  <a:srgbClr val="222B36"/>
                </a:solidFill>
                <a:latin typeface="맑은 고딕"/>
              </a:rPr>
              <a:t>관심 지역·키워드 설정 (예: 송파구, 재건축)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599" y="347472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2F6FE4"/>
                </a:solidFill>
                <a:latin typeface="맑은 고딕"/>
              </a:rPr>
              <a:t>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19" y="3474720"/>
            <a:ext cx="29260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50" b="0" i="0">
                <a:solidFill>
                  <a:srgbClr val="222B36"/>
                </a:solidFill>
                <a:latin typeface="맑은 고딕"/>
              </a:rPr>
              <a:t>카카오톡 알림톡 / 텔레그램 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599" y="411480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2F6FE4"/>
                </a:solidFill>
                <a:latin typeface="맑은 고딕"/>
              </a:rPr>
              <a:t>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19" y="4114800"/>
            <a:ext cx="29260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50" b="0" i="0">
                <a:solidFill>
                  <a:srgbClr val="222B36"/>
                </a:solidFill>
                <a:latin typeface="맑은 고딕"/>
              </a:rPr>
              <a:t>주간 리포트 자동 생성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599" y="4754879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 i="0">
                <a:solidFill>
                  <a:srgbClr val="2F6FE4"/>
                </a:solidFill>
                <a:latin typeface="맑은 고딕"/>
              </a:rPr>
              <a:t>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03919" y="4754879"/>
            <a:ext cx="29260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050" b="0" i="0">
                <a:solidFill>
                  <a:srgbClr val="222B36"/>
                </a:solidFill>
                <a:latin typeface="맑은 고딕"/>
              </a:rPr>
              <a:t>실거래가 차트 연동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571500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1" i="0">
                <a:solidFill>
                  <a:srgbClr val="1B2A41"/>
                </a:solidFill>
                <a:latin typeface="맑은 고딕"/>
              </a:rPr>
              <a:t>다음 액션:  ① 네이버 개발자센터에서 검색 API 키 발급   ② 카테고리/키워드 목록 확정   ③ 1단계 MVP 개발 착수 (이 워크스페이스 daily-house에 바로 시작 가능)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